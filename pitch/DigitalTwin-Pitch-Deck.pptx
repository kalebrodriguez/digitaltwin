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A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011680"/>
            <a:ext cx="94183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</a:pPr>
            <a:r>
              <a:rPr sz="6600" b="1" i="0">
                <a:solidFill>
                  <a:srgbClr val="FFFFFF"/>
                </a:solidFill>
                <a:latin typeface="Avenir Next"/>
              </a:rPr>
              <a:t>DigitalTwin</a:t>
            </a:r>
          </a:p>
          <a:p>
            <a:pPr algn="ctr">
              <a:spcAft>
                <a:spcPts val="200"/>
              </a:spcAft>
            </a:pPr>
            <a:r>
              <a:rPr sz="2600" b="0" i="0">
                <a:solidFill>
                  <a:srgbClr val="ECF4FF"/>
                </a:solidFill>
                <a:latin typeface="Avenir Next"/>
              </a:rPr>
              <a:t>An AI daily companion for Mom.</a:t>
            </a:r>
          </a:p>
          <a:p>
            <a:pPr algn="ctr">
              <a:spcAft>
                <a:spcPts val="2400"/>
              </a:spcAft>
            </a:pPr>
            <a:r>
              <a:rPr sz="2600" b="1" i="0">
                <a:solidFill>
                  <a:srgbClr val="FFFFFF"/>
                </a:solidFill>
                <a:latin typeface="Avenir Next"/>
              </a:rPr>
              <a:t>Real-time peace of mind for you.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ECF4FF"/>
                </a:solidFill>
                <a:latin typeface="Avenir Next"/>
              </a:rPr>
              <a:t>Kaleb Rodriguez  •  Saanvi Rout  •  Ishaan Varma Kammella  •  Hemaprabaa Rajakumar  •  Hur Rauf Sirin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6FBF"/>
                </a:solidFill>
                <a:latin typeface="Avenir Next"/>
              </a:rPr>
              <a:t>THE PROBLEM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93B"/>
                </a:solidFill>
                <a:latin typeface="Avenir Next"/>
              </a:rPr>
              <a:t>“Did Mom take her pills today?”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05840" cy="63500"/>
          </a:xfrm>
          <a:prstGeom prst="rect">
            <a:avLst/>
          </a:prstGeom>
          <a:solidFill>
            <a:srgbClr val="5C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58521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1E293B"/>
                </a:solidFill>
                <a:latin typeface="Avenir Next"/>
              </a:rPr>
              <a:t>11 million Americans care for a family member with Alzheimer's or another dementia — and most of them don't live with that person.</a:t>
            </a:r>
          </a:p>
          <a:p>
            <a:pPr algn="l">
              <a:spcAft>
                <a:spcPts val="1400"/>
              </a:spcAft>
            </a:pPr>
            <a:r>
              <a:rPr sz="2100" b="0" i="0">
                <a:solidFill>
                  <a:srgbClr val="1E293B"/>
                </a:solidFill>
                <a:latin typeface="Avenir Next"/>
              </a:rPr>
              <a:t>Their day is punctuated by one recurring worry: did she take her medicine, eat lunch, feed the dog?</a:t>
            </a:r>
          </a:p>
          <a:p>
            <a:pPr algn="l">
              <a:spcAft>
                <a:spcPts val="0"/>
              </a:spcAft>
            </a:pPr>
            <a:r>
              <a:rPr sz="2100" b="0" i="0">
                <a:solidFill>
                  <a:srgbClr val="5E6B7E"/>
                </a:solidFill>
                <a:latin typeface="Avenir Next"/>
              </a:rPr>
              <a:t>Today that worry is managed with phone calls, sticky notes, and guilt. None of it scales as the disease progresses.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0" y="2103120"/>
            <a:ext cx="4206240" cy="173736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2F6FBF"/>
                </a:solidFill>
                <a:latin typeface="Avenir Next"/>
              </a:rPr>
              <a:t>11M+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E6B7E"/>
                </a:solidFill>
                <a:latin typeface="Avenir Next"/>
              </a:rPr>
              <a:t>unpaid dementia caregivers in the U.S. today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0" y="4114800"/>
            <a:ext cx="4206240" cy="173736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C94F3D"/>
                </a:solidFill>
                <a:latin typeface="Avenir Next"/>
              </a:rPr>
              <a:t>2×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E6B7E"/>
                </a:solidFill>
                <a:latin typeface="Avenir Next"/>
              </a:rPr>
              <a:t>projected growth in dementia cases by 2050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6FBF"/>
                </a:solidFill>
                <a:latin typeface="Avenir Next"/>
              </a:rPr>
              <a:t>THE SOLUTION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93B"/>
                </a:solidFill>
                <a:latin typeface="Avenir Next"/>
              </a:rPr>
              <a:t>One AI companion. Two screens. Zero worry.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05840" cy="63500"/>
          </a:xfrm>
          <a:prstGeom prst="rect">
            <a:avLst/>
          </a:prstGeom>
          <a:solidFill>
            <a:srgbClr val="5C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057400"/>
            <a:ext cx="5257800" cy="3977639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2F6FBF"/>
                </a:solidFill>
                <a:latin typeface="Avenir Next"/>
              </a:rPr>
              <a:t>FOR THE PATIENT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E293B"/>
                </a:solidFill>
                <a:latin typeface="Avenir Next"/>
              </a:rPr>
              <a:t>A gentle voice guide through the day</a:t>
            </a:r>
          </a:p>
          <a:p>
            <a:pPr algn="l">
              <a:spcAft>
                <a:spcPts val="1000"/>
              </a:spcAft>
            </a:pPr>
            <a:r>
              <a:rPr sz="1700" b="0" i="1">
                <a:solidFill>
                  <a:srgbClr val="5E6B7E"/>
                </a:solidFill>
                <a:latin typeface="Avenir Next"/>
              </a:rPr>
              <a:t>“Margaret, it's nine o'clock — time for your morning medicine.”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E6B7E"/>
                </a:solidFill>
                <a:latin typeface="Avenir Next"/>
              </a:rPr>
              <a:t>One task at a time. Voice-first, huge buttons, nothing to learn. Medication, meals, the dog, calling family.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57400"/>
            <a:ext cx="5257800" cy="3977639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l">
              <a:spcAft>
                <a:spcPts val="600"/>
              </a:spcAft>
            </a:pPr>
            <a:r>
              <a:rPr sz="1400" b="1" i="0">
                <a:solidFill>
                  <a:srgbClr val="3D8F5F"/>
                </a:solidFill>
                <a:latin typeface="Avenir Next"/>
              </a:rPr>
              <a:t>FOR THE FAMILY</a:t>
            </a:r>
          </a:p>
          <a:p>
            <a:pPr algn="l">
              <a:spcAft>
                <a:spcPts val="1000"/>
              </a:spcAft>
            </a:pPr>
            <a:r>
              <a:rPr sz="2200" b="1" i="0">
                <a:solidFill>
                  <a:srgbClr val="1E293B"/>
                </a:solidFill>
                <a:latin typeface="Avenir Next"/>
              </a:rPr>
              <a:t>A live feed of “Mom's okay”</a:t>
            </a:r>
          </a:p>
          <a:p>
            <a:pPr algn="l">
              <a:spcAft>
                <a:spcPts val="600"/>
              </a:spcAft>
            </a:pPr>
            <a:r>
              <a:rPr sz="1700" b="1" i="0">
                <a:solidFill>
                  <a:srgbClr val="3D8F5F"/>
                </a:solidFill>
                <a:latin typeface="Avenir Next"/>
              </a:rPr>
              <a:t>✅ Medication taken — 9:02 AM</a:t>
            </a:r>
          </a:p>
          <a:p>
            <a:pPr algn="l">
              <a:spcAft>
                <a:spcPts val="1000"/>
              </a:spcAft>
            </a:pPr>
            <a:r>
              <a:rPr sz="1700" b="1" i="0">
                <a:solidFill>
                  <a:srgbClr val="C94F3D"/>
                </a:solidFill>
                <a:latin typeface="Avenir Next"/>
              </a:rPr>
              <a:t>⚠️ Missed: lunch — tap to call Mom now</a:t>
            </a:r>
          </a:p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5E6B7E"/>
                </a:solidFill>
                <a:latin typeface="Avenir Next"/>
              </a:rPr>
              <a:t>Every confirmed — and missed — task reaches the family instantly, plus an AI summary of her whole day each evening.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6FBF"/>
                </a:solidFill>
                <a:latin typeface="Avenir Next"/>
              </a:rPr>
              <a:t>HOW IT WORKS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93B"/>
                </a:solidFill>
                <a:latin typeface="Avenir Next"/>
              </a:rPr>
              <a:t>Closing the loop, task by task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05840" cy="63500"/>
          </a:xfrm>
          <a:prstGeom prst="rect">
            <a:avLst/>
          </a:prstGeom>
          <a:solidFill>
            <a:srgbClr val="5C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1. Family sets the routine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The caregiver builds Mom's day in 5 minutes: pills at 9, Biscuit at 10:15, lunch at noon, call Sarah at 3:30.</a:t>
            </a:r>
          </a:p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2. The AI guides Mom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Spoken reminders on a tablet or smart speaker, one task at a time, in plain warm language.</a:t>
            </a:r>
          </a:p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3. Mom confirms — or doesn't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Voice or one big button. No confirmation after gentle re-prompts triggers an alert.</a:t>
            </a:r>
          </a:p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4. Family knows instantly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Green check or red alert on every family member's phone, plus a nightly AI daily summary with trends.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6FBF"/>
                </a:solidFill>
                <a:latin typeface="Avenir Next"/>
              </a:rPr>
              <a:t>WHY NOW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93B"/>
                </a:solidFill>
                <a:latin typeface="Avenir Next"/>
              </a:rPr>
              <a:t>Voice AI finally works for this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05840" cy="63500"/>
          </a:xfrm>
          <a:prstGeom prst="rect">
            <a:avLst/>
          </a:prstGeom>
          <a:solidFill>
            <a:srgbClr val="5C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Conversational AI crossed the usability threshold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Someone with cognitive decline can now talk to software naturally — no menus, no typing, no learning curve.</a:t>
            </a:r>
          </a:p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The demographic wave is here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Dementia cases are projected to roughly double by 2050 while professional care costs keep climbing.</a:t>
            </a:r>
          </a:p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Families are already paying for peace of mind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Medical alert systems charge $25–45/month for a panic button. We deliver proactive daily reassurance.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6FBF"/>
                </a:solidFill>
                <a:latin typeface="Avenir Next"/>
              </a:rPr>
              <a:t>MARKET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93B"/>
                </a:solidFill>
                <a:latin typeface="Avenir Next"/>
              </a:rPr>
              <a:t>A big, underserved, emotional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05840" cy="63500"/>
          </a:xfrm>
          <a:prstGeom prst="rect">
            <a:avLst/>
          </a:prstGeom>
          <a:solidFill>
            <a:srgbClr val="5C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194560"/>
            <a:ext cx="3474720" cy="201168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2F6FBF"/>
                </a:solidFill>
                <a:latin typeface="Avenir Next"/>
              </a:rPr>
              <a:t>11M+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E6B7E"/>
                </a:solidFill>
                <a:latin typeface="Avenir Next"/>
              </a:rPr>
              <a:t>U.S. dementia family caregivers (our buyers)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34840" y="2194560"/>
            <a:ext cx="3474720" cy="201168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3D8F5F"/>
                </a:solidFill>
                <a:latin typeface="Avenir Next"/>
              </a:rPr>
              <a:t>$20/mo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E6B7E"/>
                </a:solidFill>
                <a:latin typeface="Avenir Next"/>
              </a:rPr>
              <a:t>family subscription — under half a Life Alert bill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194560"/>
            <a:ext cx="3474720" cy="201168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"/>
              </a:spcAft>
            </a:pPr>
            <a:r>
              <a:rPr sz="4000" b="1" i="0">
                <a:solidFill>
                  <a:srgbClr val="2F6FBF"/>
                </a:solidFill>
                <a:latin typeface="Avenir Next"/>
              </a:rPr>
              <a:t>$2.6B</a:t>
            </a:r>
          </a:p>
          <a:p>
            <a:pPr algn="ctr">
              <a:spcAft>
                <a:spcPts val="0"/>
              </a:spcAft>
            </a:pPr>
            <a:r>
              <a:rPr sz="1400" b="0" i="0">
                <a:solidFill>
                  <a:srgbClr val="5E6B7E"/>
                </a:solidFill>
                <a:latin typeface="Avenir Next"/>
              </a:rPr>
              <a:t>annual U.S. opportunity at $20/mo across 11M families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572000"/>
            <a:ext cx="10515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900" b="0" i="0">
                <a:solidFill>
                  <a:srgbClr val="1E293B"/>
                </a:solidFill>
                <a:latin typeface="Avenir Next"/>
              </a:rPr>
              <a:t>Beachhead: adult children of recently diagnosed Alzheimer's patients — motivated, tech-savvy, actively searching for help.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E6B7E"/>
                </a:solidFill>
                <a:latin typeface="Avenir Next"/>
              </a:rPr>
              <a:t>Expansion: home-care agencies and assisted living facilities as B2B channels.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6FBF"/>
                </a:solidFill>
                <a:latin typeface="Avenir Next"/>
              </a:rPr>
              <a:t>BUSINESS MODEL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93B"/>
                </a:solidFill>
                <a:latin typeface="Avenir Next"/>
              </a:rPr>
              <a:t>The family pays, not the patient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05840" cy="63500"/>
          </a:xfrm>
          <a:prstGeom prst="rect">
            <a:avLst/>
          </a:prstGeom>
          <a:solidFill>
            <a:srgbClr val="5C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Family subscription — ~$20/month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One patient, unlimited family members on the account. The worried adult child is the buyer; price-anchored against $25–45/month medical alert systems.</a:t>
            </a:r>
          </a:p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Retention strengthens over time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As the disease progresses, value shifts from patient reminders to the caregiver dashboard — families need us more each year, not less.</a:t>
            </a:r>
          </a:p>
          <a:p>
            <a:pPr algn="l">
              <a:spcAft>
                <a:spcPts val="200"/>
              </a:spcAft>
            </a:pPr>
            <a:r>
              <a:rPr sz="2100" b="1" i="0">
                <a:solidFill>
                  <a:srgbClr val="1E293B"/>
                </a:solidFill>
                <a:latin typeface="Avenir Next"/>
              </a:rPr>
              <a:t>B2B later</a:t>
            </a:r>
          </a:p>
          <a:p>
            <a:pPr algn="l">
              <a:spcAft>
                <a:spcPts val="1600"/>
              </a:spcAft>
            </a:pPr>
            <a:r>
              <a:rPr sz="1800" b="0" i="0">
                <a:solidFill>
                  <a:srgbClr val="5E6B7E"/>
                </a:solidFill>
                <a:latin typeface="Avenir Next"/>
              </a:rPr>
              <a:t>Home-care agencies and assisted living facilities pay per-resident for family-communication tooling.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6FBF"/>
                </a:solidFill>
                <a:latin typeface="Avenir Next"/>
              </a:rPr>
              <a:t>COMPETITION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93B"/>
                </a:solidFill>
                <a:latin typeface="Avenir Next"/>
              </a:rPr>
              <a:t>Everyone else does half the job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05840" cy="63500"/>
          </a:xfrm>
          <a:prstGeom prst="rect">
            <a:avLst/>
          </a:prstGeom>
          <a:solidFill>
            <a:srgbClr val="5C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965960"/>
            <a:ext cx="3749039" cy="689808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/>
            </a:r>
          </a:p>
        </p:txBody>
      </p:sp>
      <p:sp>
        <p:nvSpPr>
          <p:cNvPr id="5" name="Rectangle 4"/>
          <p:cNvSpPr/>
          <p:nvPr/>
        </p:nvSpPr>
        <p:spPr>
          <a:xfrm>
            <a:off x="4663440" y="1965960"/>
            <a:ext cx="3474720" cy="689808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Patient-friendly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0" y="1965960"/>
            <a:ext cx="3200400" cy="689808"/>
          </a:xfrm>
          <a:prstGeom prst="rect">
            <a:avLst/>
          </a:prstGeom>
          <a:solidFill>
            <a:srgbClr val="2F6F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Keeps family in the 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715768"/>
            <a:ext cx="3749039" cy="689808"/>
          </a:xfrm>
          <a:prstGeom prst="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Avenir Next"/>
              </a:rPr>
              <a:t>Medisafe (med reminders)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2715768"/>
            <a:ext cx="3474720" cy="689808"/>
          </a:xfrm>
          <a:prstGeom prst="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Avenir Next"/>
              </a:rPr>
              <a:t>Somewhat — still a normal app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715768"/>
            <a:ext cx="3200400" cy="689808"/>
          </a:xfrm>
          <a:prstGeom prst="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Avenir Next"/>
              </a:rPr>
              <a:t>Meds only, basic alerts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465576"/>
            <a:ext cx="3749039" cy="689808"/>
          </a:xfrm>
          <a:prstGeom prst="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Avenir Next"/>
              </a:rPr>
              <a:t>CareZone / Carely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465576"/>
            <a:ext cx="3474720" cy="689808"/>
          </a:xfrm>
          <a:prstGeom prst="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Avenir Next"/>
              </a:rPr>
              <a:t>Caregiver tools; patient barely uses 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3465576"/>
            <a:ext cx="3200400" cy="689808"/>
          </a:xfrm>
          <a:prstGeom prst="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Avenir Next"/>
              </a:rPr>
              <a:t>Yes, but manual updates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4215384"/>
            <a:ext cx="3749039" cy="689808"/>
          </a:xfrm>
          <a:prstGeom prst="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Avenir Next"/>
              </a:rPr>
              <a:t>ElliQ (companion robot)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4215384"/>
            <a:ext cx="3474720" cy="689808"/>
          </a:xfrm>
          <a:prstGeom prst="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Avenir Next"/>
              </a:rPr>
              <a:t>Voice-first, but $600+ hardware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4215384"/>
            <a:ext cx="3200400" cy="689808"/>
          </a:xfrm>
          <a:prstGeom prst="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E293B"/>
                </a:solidFill>
                <a:latin typeface="Avenir Next"/>
              </a:rPr>
              <a:t>Weak family features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4965192"/>
            <a:ext cx="3749039" cy="689808"/>
          </a:xfrm>
          <a:prstGeom prst="rect">
            <a:avLst/>
          </a:prstGeom>
          <a:solidFill>
            <a:srgbClr val="3D8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DigitalTwin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63440" y="4965192"/>
            <a:ext cx="3474720" cy="689808"/>
          </a:xfrm>
          <a:prstGeom prst="rect">
            <a:avLst/>
          </a:prstGeom>
          <a:solidFill>
            <a:srgbClr val="3D8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Voice-first, zero learning curve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4965192"/>
            <a:ext cx="3200400" cy="689808"/>
          </a:xfrm>
          <a:prstGeom prst="rect">
            <a:avLst/>
          </a:prstGeom>
          <a:solidFill>
            <a:srgbClr val="3D8F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venir Next"/>
              </a:rPr>
              <a:t>Real-time loop on the whole routine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824728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1">
                <a:solidFill>
                  <a:srgbClr val="2F6FBF"/>
                </a:solidFill>
                <a:latin typeface="Avenir Next"/>
              </a:rPr>
              <a:t>Reminder apps talk to the patient. Care apps talk to the family. Nobody closes the loop between them. We do.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6FBF"/>
                </a:solidFill>
                <a:latin typeface="Avenir Next"/>
              </a:rPr>
              <a:t>ROADMAP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93B"/>
                </a:solidFill>
                <a:latin typeface="Avenir Next"/>
              </a:rPr>
              <a:t>Start simple, grow with the family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05840" cy="63500"/>
          </a:xfrm>
          <a:prstGeom prst="rect">
            <a:avLst/>
          </a:prstGeom>
          <a:solidFill>
            <a:srgbClr val="5C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5156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E293B"/>
                </a:solidFill>
                <a:latin typeface="Avenir Next"/>
              </a:rPr>
              <a:t>Now — working prototype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5E6B7E"/>
                </a:solidFill>
                <a:latin typeface="Avenir Next"/>
              </a:rPr>
              <a:t>Patient screen + live family feed with confirmed/missed task alerts (demoed today).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E293B"/>
                </a:solidFill>
                <a:latin typeface="Avenir Next"/>
              </a:rPr>
              <a:t>6 months — pilot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5E6B7E"/>
                </a:solidFill>
                <a:latin typeface="Avenir Next"/>
              </a:rPr>
              <a:t>Voice AI on tablets with 20 pilot families; smart pill dispenser integration (Hero API).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E293B"/>
                </a:solidFill>
                <a:latin typeface="Avenir Next"/>
              </a:rPr>
              <a:t>12 months — launch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5E6B7E"/>
                </a:solidFill>
                <a:latin typeface="Avenir Next"/>
              </a:rPr>
              <a:t>iOS/Android family app, evening AI daily summaries, subscription billing.</a:t>
            </a:r>
          </a:p>
          <a:p>
            <a:pPr algn="l">
              <a:spcAft>
                <a:spcPts val="200"/>
              </a:spcAft>
            </a:pPr>
            <a:r>
              <a:rPr sz="2000" b="1" i="0">
                <a:solidFill>
                  <a:srgbClr val="1E293B"/>
                </a:solidFill>
                <a:latin typeface="Avenir Next"/>
              </a:rPr>
              <a:t>Beyond</a:t>
            </a:r>
          </a:p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5E6B7E"/>
                </a:solidFill>
                <a:latin typeface="Avenir Next"/>
              </a:rPr>
              <a:t>Trend detection (“Mom is missing more tasks this month”), B2B for care agencies, more conditions beyond dementia.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2F6FBF"/>
                </a:solidFill>
                <a:latin typeface="Avenir Next"/>
              </a:rPr>
              <a:t>TEAM</a:t>
            </a:r>
          </a:p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1E293B"/>
                </a:solidFill>
                <a:latin typeface="Avenir Next"/>
              </a:rPr>
              <a:t>Built by Team DigitalTwin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600200"/>
            <a:ext cx="1005840" cy="63500"/>
          </a:xfrm>
          <a:prstGeom prst="rect">
            <a:avLst/>
          </a:prstGeom>
          <a:solidFill>
            <a:srgbClr val="5CA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2103120"/>
            <a:ext cx="3429000" cy="169164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E293B"/>
                </a:solidFill>
                <a:latin typeface="Avenir Next"/>
              </a:rPr>
              <a:t>Kaleb Rodriguez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CA3FF"/>
                </a:solidFill>
                <a:latin typeface="Avenir Next"/>
              </a:rPr>
              <a:t>TECHNICAL LEAD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103120"/>
            <a:ext cx="3429000" cy="169164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E293B"/>
                </a:solidFill>
                <a:latin typeface="Avenir Next"/>
              </a:rPr>
              <a:t>Saanvi Rout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3D8F5F"/>
                </a:solidFill>
                <a:latin typeface="Avenir Next"/>
              </a:rPr>
              <a:t>MARKETING LEAD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60" y="2103120"/>
            <a:ext cx="3429000" cy="169164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E293B"/>
                </a:solidFill>
                <a:latin typeface="Avenir Next"/>
              </a:rPr>
              <a:t>Ishaan Varma Kammella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2F6FBF"/>
                </a:solidFill>
                <a:latin typeface="Avenir Next"/>
              </a:rPr>
              <a:t>FINANCE LEAD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114800"/>
            <a:ext cx="3429000" cy="169164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E293B"/>
                </a:solidFill>
                <a:latin typeface="Avenir Next"/>
              </a:rPr>
              <a:t>Hemaprabaa Rajakumar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C94F3D"/>
                </a:solidFill>
                <a:latin typeface="Avenir Next"/>
              </a:rPr>
              <a:t>FLEXIBLE TEAM LEAD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4114800"/>
            <a:ext cx="3429000" cy="1691640"/>
          </a:xfrm>
          <a:prstGeom prst="roundRect">
            <a:avLst/>
          </a:prstGeom>
          <a:solidFill>
            <a:srgbClr val="EC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</a:pPr>
            <a:r>
              <a:rPr sz="1900" b="1" i="0">
                <a:solidFill>
                  <a:srgbClr val="1E293B"/>
                </a:solidFill>
                <a:latin typeface="Avenir Next"/>
              </a:rPr>
              <a:t>Hur Rauf Sirin</a:t>
            </a:r>
          </a:p>
          <a:p>
            <a:pPr algn="ctr">
              <a:spcAft>
                <a:spcPts val="0"/>
              </a:spcAft>
            </a:pPr>
            <a:r>
              <a:rPr sz="1300" b="1" i="0">
                <a:solidFill>
                  <a:srgbClr val="5E6B7E"/>
                </a:solidFill>
                <a:latin typeface="Avenir Next"/>
              </a:rPr>
              <a:t>FLEXIBLE TEAM LEAD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CA3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103120"/>
            <a:ext cx="9418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</a:pPr>
            <a:r>
              <a:rPr sz="3400" b="0" i="0">
                <a:solidFill>
                  <a:srgbClr val="ECF4FF"/>
                </a:solidFill>
                <a:latin typeface="Avenir Next"/>
              </a:rPr>
              <a:t>We can't stop the disease.</a:t>
            </a:r>
          </a:p>
          <a:p>
            <a:pPr algn="ctr">
              <a:spcAft>
                <a:spcPts val="200"/>
              </a:spcAft>
            </a:pPr>
            <a:r>
              <a:rPr sz="3400" b="1" i="0">
                <a:solidFill>
                  <a:srgbClr val="FFFFFF"/>
                </a:solidFill>
                <a:latin typeface="Avenir Next"/>
              </a:rPr>
              <a:t>But we can give families back their calm —</a:t>
            </a:r>
          </a:p>
          <a:p>
            <a:pPr algn="ctr">
              <a:spcAft>
                <a:spcPts val="2600"/>
              </a:spcAft>
            </a:pPr>
            <a:r>
              <a:rPr sz="3400" b="1" i="0">
                <a:solidFill>
                  <a:srgbClr val="FFFFFF"/>
                </a:solidFill>
                <a:latin typeface="Avenir Next"/>
              </a:rPr>
              <a:t>one confirmed “Mom's okay” at a time.</a:t>
            </a:r>
          </a:p>
          <a:p>
            <a:pPr algn="ctr">
              <a:spcAft>
                <a:spcPts val="0"/>
              </a:spcAft>
            </a:pPr>
            <a:r>
              <a:rPr sz="1800" b="0" i="0">
                <a:solidFill>
                  <a:srgbClr val="ECF4FF"/>
                </a:solidFill>
                <a:latin typeface="Avenir Next"/>
              </a:rPr>
              <a:t>DigitalTwin  •  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
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igitaltwin-ad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20040" y="4892040"/>
            <a:ext cx="603504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46304" rIns="274320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F6FBF"/>
                </a:solidFill>
                <a:latin typeface="Avenir Next"/>
              </a:rPr>
              <a:t>DigitalTwin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E6B7E"/>
                </a:solidFill>
                <a:latin typeface="Avenir Next"/>
              </a:rPr>
              <a:t>An AI daily companion for Mom. Real-time peace of mind for you.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E6B7E"/>
                </a:solidFill>
                <a:latin typeface="Avenir Next"/>
              </a:rPr>
              <a:t>Kaleb Rodriguez · Saanvi Rout · Ishaan Varma Kammella · Hemaprabaa Rajakumar · Hur Rauf Sirin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6144768"/>
            <a:ext cx="20574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CA3FF"/>
                </a:solidFill>
                <a:latin typeface="Avenir Next"/>
              </a:rPr>
              <a:t>digitaltwin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“Did Mom take her pills today?”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1E293B"/>
                </a:solidFill>
                <a:latin typeface="Avenir Next"/>
              </a:rPr>
              <a:t>11 million Americans care for a family member with Alzheimer's or another dementia — and most of them don't live with that person.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1E293B"/>
                </a:solidFill>
                <a:latin typeface="Avenir Next"/>
              </a:rPr>
              <a:t>Their day is punctuated by one recurring worry: did she take her medicine, eat lunch, feed the dog?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5E6B7E"/>
                </a:solidFill>
                <a:latin typeface="Avenir Next"/>
              </a:rPr>
              <a:t>Today that worry is managed with phone calls, sticky notes, and guilt. None of it scales as the disease progresses.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2103120"/>
            <a:ext cx="4206240" cy="173736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2F6FBF"/>
                </a:solidFill>
                <a:latin typeface="Avenir Next"/>
              </a:rPr>
              <a:t>11M+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E6B7E"/>
                </a:solidFill>
                <a:latin typeface="Avenir Next"/>
              </a:rPr>
              <a:t>unpaid dementia caregivers in the U.S.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4114800"/>
            <a:ext cx="4206240" cy="173736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C94F3D"/>
                </a:solidFill>
                <a:latin typeface="Avenir Next"/>
              </a:rPr>
              <a:t>2×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E6B7E"/>
                </a:solidFill>
                <a:latin typeface="Avenir Next"/>
              </a:rPr>
              <a:t>projected growth in dementia cases by 2050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THE SOLUTION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One AI companion. Two screens. Zero worry.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5257800" cy="3977639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F6FBF"/>
                </a:solidFill>
                <a:latin typeface="Avenir Next"/>
              </a:rPr>
              <a:t>FOR THE PATIENT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1E293B"/>
                </a:solidFill>
                <a:latin typeface="Avenir Next"/>
              </a:rPr>
              <a:t>A gentle voice guide through the day</a:t>
            </a:r>
          </a:p>
          <a:p>
            <a:pPr algn="l">
              <a:spcAft>
                <a:spcPts val="1000"/>
              </a:spcAft>
            </a:pPr>
            <a:r>
              <a:rPr sz="1700" b="0" i="1">
                <a:solidFill>
                  <a:srgbClr val="5E6B7E"/>
                </a:solidFill>
                <a:latin typeface="Avenir Next"/>
              </a:rPr>
              <a:t>“Margaret, it's nine o'clock — time for your morning medicine.”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E6B7E"/>
                </a:solidFill>
                <a:latin typeface="Avenir Next"/>
              </a:rPr>
              <a:t>One task at a time. Voice-first, huge buttons, nothing to learn. Medication, meals, the dog, calling family.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057400"/>
            <a:ext cx="5257800" cy="3977639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D8F5F"/>
                </a:solidFill>
                <a:latin typeface="Avenir Next"/>
              </a:rPr>
              <a:t>FOR THE FAMILY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1E293B"/>
                </a:solidFill>
                <a:latin typeface="Avenir Next"/>
              </a:rPr>
              <a:t>A live feed of “Mom's okay”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D8F5F"/>
                </a:solidFill>
                <a:latin typeface="Avenir Next"/>
              </a:rPr>
              <a:t>✅ Medication taken — 9:02 AM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C94F3D"/>
                </a:solidFill>
                <a:latin typeface="Avenir Next"/>
              </a:rPr>
              <a:t>⚠️ Missed: lunch — tap to call Mom now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E6B7E"/>
                </a:solidFill>
                <a:latin typeface="Avenir Next"/>
              </a:rPr>
              <a:t>Every confirmed — and missed — task reaches the family instantly, plus an AI summary of her whole day each evening.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HOW IT WORKS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Closing the loop, task by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1. Family sets the routine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The caregiver builds Mom's day in 5 minutes: pills at 9, Biscuit at 10:15, lunch at noon, call Sarah at 3:30.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2. The AI guides Mom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Spoken reminders on a tablet or smart speaker, one task at a time, in plain warm language.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3. Mom confirms — or doesn't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Voice or one big button. No confirmation after gentle re-prompts triggers an alert.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4. Family knows instantly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Green check or red alert on every family member's phone, plus a nightly AI daily summary with trends.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WHY NOW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Voice AI finally works for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Conversational AI crossed the usability threshold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Someone with cognitive decline can now talk to software naturally — no menus, no typing, no learning curve.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The demographic wave is here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Dementia cases are projected to roughly double by 2050 while professional care costs keep climbing.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Families are already paying for peace of mind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Medical alert systems charge $25–45/month for a panic button. We deliver proactive daily reassurance.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MARKET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A big, underserved, emotional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3474720" cy="201168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2F6FBF"/>
                </a:solidFill>
                <a:latin typeface="Avenir Next"/>
              </a:rPr>
              <a:t>11M+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E6B7E"/>
                </a:solidFill>
                <a:latin typeface="Avenir Next"/>
              </a:rPr>
              <a:t>U.S. dementia family caregivers (our buyers)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94560"/>
            <a:ext cx="3474720" cy="201168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3D8F5F"/>
                </a:solidFill>
                <a:latin typeface="Avenir Next"/>
              </a:rPr>
              <a:t>$20/mo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E6B7E"/>
                </a:solidFill>
                <a:latin typeface="Avenir Next"/>
              </a:rPr>
              <a:t>family subscription — under half a Life Alert bill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474720" cy="201168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2F6FBF"/>
                </a:solidFill>
                <a:latin typeface="Avenir Next"/>
              </a:rPr>
              <a:t>$2.6B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E6B7E"/>
                </a:solidFill>
                <a:latin typeface="Avenir Next"/>
              </a:rPr>
              <a:t>annual U.S. opportunity at $20/mo across 11M families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1E293B"/>
                </a:solidFill>
                <a:latin typeface="Avenir Next"/>
              </a:rPr>
              <a:t>Beachhead: adult children of recently diagnosed Alzheimer's patients — motivated, tech-savvy, actively searching for help.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E6B7E"/>
                </a:solidFill>
                <a:latin typeface="Avenir Next"/>
              </a:rPr>
              <a:t>Expansion: home-care agencies and assisted living facilities as B2B channels.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BUSINESS MODEL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The family pays, not the patient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Family subscription — ~$20/month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One patient, unlimited family members on the account. The worried adult child is the buyer; price-anchored against $25–45/month medical alert systems.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Retention strengthens over time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As the disease progresses, value shifts from patient reminders to the caregiver dashboard — families need us more each year, not less.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1E293B"/>
                </a:solidFill>
                <a:latin typeface="Avenir Next"/>
              </a:rPr>
              <a:t>B2B later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5E6B7E"/>
                </a:solidFill>
                <a:latin typeface="Avenir Next"/>
              </a:rPr>
              <a:t>Home-care agencies and assisted living facilities pay per-resident for family-communication tooling.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COMPETITION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Everyone else does half the job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3749039" cy="689808"/>
          </a:xfrm>
          <a:prstGeom prst="rect">
            <a:avLst/>
          </a:prstGeom>
          <a:solidFill>
            <a:srgbClr val="2F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965960"/>
            <a:ext cx="3474720" cy="689808"/>
          </a:xfrm>
          <a:prstGeom prst="rect">
            <a:avLst/>
          </a:prstGeom>
          <a:solidFill>
            <a:srgbClr val="2F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Patient-friendly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965960"/>
            <a:ext cx="3200400" cy="689808"/>
          </a:xfrm>
          <a:prstGeom prst="rect">
            <a:avLst/>
          </a:prstGeom>
          <a:solidFill>
            <a:srgbClr val="2F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Keeps family in the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15768"/>
            <a:ext cx="3749039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Medisafe (med reminders)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715768"/>
            <a:ext cx="3474720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Somewhat — still a normal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715768"/>
            <a:ext cx="3200400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Meds only, basic alerts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65576"/>
            <a:ext cx="3749039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CareZone / Carely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465576"/>
            <a:ext cx="3474720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Caregiver tools; patient barely uses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465576"/>
            <a:ext cx="3200400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Yes, but manual updates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15384"/>
            <a:ext cx="3749039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ElliQ (companion robot)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4215384"/>
            <a:ext cx="3474720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Voice-first, but $600+ hardware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215384"/>
            <a:ext cx="3200400" cy="689808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E293B"/>
                </a:solidFill>
                <a:latin typeface="Avenir Next"/>
              </a:rPr>
              <a:t>Weak family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65192"/>
            <a:ext cx="3749039" cy="689808"/>
          </a:xfrm>
          <a:prstGeom prst="rect">
            <a:avLst/>
          </a:prstGeom>
          <a:solidFill>
            <a:srgbClr val="3D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DigitalTwin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4965192"/>
            <a:ext cx="3474720" cy="689808"/>
          </a:xfrm>
          <a:prstGeom prst="rect">
            <a:avLst/>
          </a:prstGeom>
          <a:solidFill>
            <a:srgbClr val="3D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Voice-first, zero learning curve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4965192"/>
            <a:ext cx="3200400" cy="689808"/>
          </a:xfrm>
          <a:prstGeom prst="rect">
            <a:avLst/>
          </a:prstGeom>
          <a:solidFill>
            <a:srgbClr val="3D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Real-time loop on the whole routine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24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1">
                <a:solidFill>
                  <a:srgbClr val="2F6FBF"/>
                </a:solidFill>
                <a:latin typeface="Avenir Next"/>
              </a:rPr>
              <a:t>Reminder apps talk to the patient. Care apps talk to the family. Nobody closes the loop between them. We 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ROADMAP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Start simple, grow with the family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E293B"/>
                </a:solidFill>
                <a:latin typeface="Avenir Next"/>
              </a:rPr>
              <a:t>Now — working prototype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5E6B7E"/>
                </a:solidFill>
                <a:latin typeface="Avenir Next"/>
              </a:rPr>
              <a:t>Patient screen + live family feed with confirmed/missed task alerts (demoed today).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E293B"/>
                </a:solidFill>
                <a:latin typeface="Avenir Next"/>
              </a:rPr>
              <a:t>6 months — pilot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5E6B7E"/>
                </a:solidFill>
                <a:latin typeface="Avenir Next"/>
              </a:rPr>
              <a:t>Voice AI on tablets with 20 pilot families; smart pill dispenser integration (Hero API).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E293B"/>
                </a:solidFill>
                <a:latin typeface="Avenir Next"/>
              </a:rPr>
              <a:t>12 months — launch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5E6B7E"/>
                </a:solidFill>
                <a:latin typeface="Avenir Next"/>
              </a:rPr>
              <a:t>iOS/Android family app, evening AI daily summaries, subscription billing.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E293B"/>
                </a:solidFill>
                <a:latin typeface="Avenir Next"/>
              </a:rPr>
              <a:t>Beyond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5E6B7E"/>
                </a:solidFill>
                <a:latin typeface="Avenir Next"/>
              </a:rPr>
              <a:t>Trend detection (“Mom is missing more tasks this month”), B2B for care agencies, more conditions beyond dementia.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F6FBF"/>
                </a:solidFill>
                <a:latin typeface="Avenir Next"/>
              </a:rPr>
              <a:t>TEAM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1E293B"/>
                </a:solidFill>
                <a:latin typeface="Avenir Next"/>
              </a:rPr>
              <a:t>Built by Team DigitalTwin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5C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429000" cy="169164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E293B"/>
                </a:solidFill>
                <a:latin typeface="Avenir Next"/>
              </a:rPr>
              <a:t>Kaleb Rodriguez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CA3FF"/>
                </a:solidFill>
                <a:latin typeface="Avenir Next"/>
              </a:rPr>
              <a:t>TECHNICAL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103120"/>
            <a:ext cx="3429000" cy="169164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E293B"/>
                </a:solidFill>
                <a:latin typeface="Avenir Next"/>
              </a:rPr>
              <a:t>Saanvi Rout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D8F5F"/>
                </a:solidFill>
                <a:latin typeface="Avenir Next"/>
              </a:rPr>
              <a:t>MARKETING LEAD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103120"/>
            <a:ext cx="3429000" cy="169164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E293B"/>
                </a:solidFill>
                <a:latin typeface="Avenir Next"/>
              </a:rPr>
              <a:t>Ishaan Varma Kammella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F6FBF"/>
                </a:solidFill>
                <a:latin typeface="Avenir Next"/>
              </a:rPr>
              <a:t>FINANCE LEAD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114800"/>
            <a:ext cx="3429000" cy="169164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E293B"/>
                </a:solidFill>
                <a:latin typeface="Avenir Next"/>
              </a:rPr>
              <a:t>Hemaprabaa Rajakumar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94F3D"/>
                </a:solidFill>
                <a:latin typeface="Avenir Next"/>
              </a:rPr>
              <a:t>FLEXIBLE TEAM LEAD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14800"/>
            <a:ext cx="3429000" cy="1691640"/>
          </a:xfrm>
          <a:prstGeom prst="round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E293B"/>
                </a:solidFill>
                <a:latin typeface="Avenir Next"/>
              </a:rPr>
              <a:t>Hur Rauf Sirin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E6B7E"/>
                </a:solidFill>
                <a:latin typeface="Avenir Next"/>
              </a:rPr>
              <a:t>FLEXIBLE TEAM LEAD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A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103120"/>
            <a:ext cx="9418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ECF4FF"/>
                </a:solidFill>
                <a:latin typeface="Avenir Next"/>
              </a:rPr>
              <a:t>We can't stop the disease.</a:t>
            </a:r>
          </a:p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venir Next"/>
              </a:rPr>
              <a:t>But we can give families back their calm —</a:t>
            </a:r>
          </a:p>
          <a:p>
            <a:pPr algn="ctr">
              <a:spcAft>
                <a:spcPts val="2600"/>
              </a:spcAft>
            </a:pPr>
            <a:r>
              <a:rPr sz="3400" b="1" i="0">
                <a:solidFill>
                  <a:srgbClr val="FFFFFF"/>
                </a:solidFill>
                <a:latin typeface="Avenir Next"/>
              </a:rPr>
              <a:t>one confirmed “Mom's okay” at a time.</a:t>
            </a:r>
          </a:p>
          <a:p>
            <a:pPr algn="ctr">
              <a:spcAft>
                <a:spcPts val="0"/>
              </a:spcAft>
            </a:pPr>
            <a:r>
              <a:rPr sz="1800" b="0" i="0">
                <a:solidFill>
                  <a:srgbClr val="ECF4FF"/>
                </a:solidFill>
                <a:latin typeface="Avenir Next"/>
              </a:rPr>
              <a:t>DigitalTwin  •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
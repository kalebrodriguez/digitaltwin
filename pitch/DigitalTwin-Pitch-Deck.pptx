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5D8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011680"/>
            <a:ext cx="94183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6600" b="1" i="0">
                <a:solidFill>
                  <a:srgbClr val="FFFFFF"/>
                </a:solidFill>
                <a:latin typeface="Avenir Next"/>
              </a:rPr>
              <a:t>DigitalTwin</a:t>
            </a:r>
          </a:p>
          <a:p>
            <a:pPr algn="ctr">
              <a:spcAft>
                <a:spcPts val="200"/>
              </a:spcAft>
            </a:pPr>
            <a:r>
              <a:rPr sz="2600" b="0" i="0">
                <a:solidFill>
                  <a:srgbClr val="BFD4E8"/>
                </a:solidFill>
                <a:latin typeface="Avenir Next"/>
              </a:rPr>
              <a:t>An AI daily companion for Mom.</a:t>
            </a:r>
          </a:p>
          <a:p>
            <a:pPr algn="ctr">
              <a:spcAft>
                <a:spcPts val="2400"/>
              </a:spcAft>
            </a:pPr>
            <a:r>
              <a:rPr sz="2600" b="1" i="0">
                <a:solidFill>
                  <a:srgbClr val="FFFFFF"/>
                </a:solidFill>
                <a:latin typeface="Avenir Next"/>
              </a:rPr>
              <a:t>Real-time peace of mind for you.</a:t>
            </a:r>
          </a:p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9FB8D2"/>
                </a:solidFill>
                <a:latin typeface="Avenir Next"/>
              </a:rPr>
              <a:t>Kaleb Rodriguez  •  Saanvi Rout  •  Ishaan Varma Kammella  •  Hemaprabaa Rajakumar  •  Hur Rauf Sirin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CAC"/>
                </a:solidFill>
                <a:latin typeface="Avenir Next"/>
              </a:rPr>
              <a:t>THE PROBLEM</a:t>
            </a:r>
          </a:p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2B2B33"/>
                </a:solidFill>
                <a:latin typeface="Avenir Next"/>
              </a:rPr>
              <a:t>“Did Mom take her pills today?”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1005840" cy="63500"/>
          </a:xfrm>
          <a:prstGeom prst="rect">
            <a:avLst/>
          </a:prstGeom>
          <a:solidFill>
            <a:srgbClr val="4F7C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5852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100" b="0" i="0">
                <a:solidFill>
                  <a:srgbClr val="2B2B33"/>
                </a:solidFill>
                <a:latin typeface="Avenir Next"/>
              </a:rPr>
              <a:t>11 million Americans care for a family member with Alzheimer's or another dementia — and most of them don't live with that person.</a:t>
            </a:r>
          </a:p>
          <a:p>
            <a:pPr algn="l">
              <a:spcAft>
                <a:spcPts val="1400"/>
              </a:spcAft>
            </a:pPr>
            <a:r>
              <a:rPr sz="2100" b="0" i="0">
                <a:solidFill>
                  <a:srgbClr val="2B2B33"/>
                </a:solidFill>
                <a:latin typeface="Avenir Next"/>
              </a:rPr>
              <a:t>Their day is punctuated by one recurring worry: did she take her medicine, eat lunch, feed the dog?</a:t>
            </a:r>
          </a:p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6B6B76"/>
                </a:solidFill>
                <a:latin typeface="Avenir Next"/>
              </a:rPr>
              <a:t>Today that worry is managed with phone calls, sticky notes, and guilt. None of it scales as the disease progresses.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0" y="2103120"/>
            <a:ext cx="4206240" cy="1737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4000" b="1" i="0">
                <a:solidFill>
                  <a:srgbClr val="4F7CAC"/>
                </a:solidFill>
                <a:latin typeface="Avenir Next"/>
              </a:rPr>
              <a:t>11M+</a:t>
            </a:r>
          </a:p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6B6B76"/>
                </a:solidFill>
                <a:latin typeface="Avenir Next"/>
              </a:rPr>
              <a:t>unpaid dementia caregivers in the U.S. today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4114800"/>
            <a:ext cx="4206240" cy="1737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4000" b="1" i="0">
                <a:solidFill>
                  <a:srgbClr val="C94F3D"/>
                </a:solidFill>
                <a:latin typeface="Avenir Next"/>
              </a:rPr>
              <a:t>2×</a:t>
            </a:r>
          </a:p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6B6B76"/>
                </a:solidFill>
                <a:latin typeface="Avenir Next"/>
              </a:rPr>
              <a:t>projected growth in dementia cases by 2050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CAC"/>
                </a:solidFill>
                <a:latin typeface="Avenir Next"/>
              </a:rPr>
              <a:t>THE SOLUTION</a:t>
            </a:r>
          </a:p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2B2B33"/>
                </a:solidFill>
                <a:latin typeface="Avenir Next"/>
              </a:rPr>
              <a:t>One AI companion. Two screens. Zero worry.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1005840" cy="63500"/>
          </a:xfrm>
          <a:prstGeom prst="rect">
            <a:avLst/>
          </a:prstGeom>
          <a:solidFill>
            <a:srgbClr val="4F7C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2057400"/>
            <a:ext cx="5257800" cy="397763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74320" rIns="320040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4F7CAC"/>
                </a:solidFill>
                <a:latin typeface="Avenir Next"/>
              </a:rPr>
              <a:t>FOR THE PATIENT</a:t>
            </a:r>
          </a:p>
          <a:p>
            <a:pPr algn="l">
              <a:spcAft>
                <a:spcPts val="1000"/>
              </a:spcAft>
            </a:pPr>
            <a:r>
              <a:rPr sz="2200" b="1" i="0">
                <a:solidFill>
                  <a:srgbClr val="2B2B33"/>
                </a:solidFill>
                <a:latin typeface="Avenir Next"/>
              </a:rPr>
              <a:t>A gentle voice guide through the day</a:t>
            </a:r>
          </a:p>
          <a:p>
            <a:pPr algn="l">
              <a:spcAft>
                <a:spcPts val="1000"/>
              </a:spcAft>
            </a:pPr>
            <a:r>
              <a:rPr sz="1700" b="0" i="1">
                <a:solidFill>
                  <a:srgbClr val="6B6B76"/>
                </a:solidFill>
                <a:latin typeface="Avenir Next"/>
              </a:rPr>
              <a:t>“Margaret, it's nine o'clock — time for your morning medicine.”</a:t>
            </a:r>
          </a:p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6B6B76"/>
                </a:solidFill>
                <a:latin typeface="Avenir Next"/>
              </a:rPr>
              <a:t>One task at a time. Voice-first, huge buttons, nothing to learn. Medication, meals, the dog, calling family.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2057400"/>
            <a:ext cx="5257800" cy="397763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74320" rIns="320040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3D8F5F"/>
                </a:solidFill>
                <a:latin typeface="Avenir Next"/>
              </a:rPr>
              <a:t>FOR THE FAMILY</a:t>
            </a:r>
          </a:p>
          <a:p>
            <a:pPr algn="l">
              <a:spcAft>
                <a:spcPts val="1000"/>
              </a:spcAft>
            </a:pPr>
            <a:r>
              <a:rPr sz="2200" b="1" i="0">
                <a:solidFill>
                  <a:srgbClr val="2B2B33"/>
                </a:solidFill>
                <a:latin typeface="Avenir Next"/>
              </a:rPr>
              <a:t>A live feed of “Mom's okay”</a:t>
            </a:r>
          </a:p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3D8F5F"/>
                </a:solidFill>
                <a:latin typeface="Avenir Next"/>
              </a:rPr>
              <a:t>✅ Medication taken — 9:02 AM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C94F3D"/>
                </a:solidFill>
                <a:latin typeface="Avenir Next"/>
              </a:rPr>
              <a:t>⚠️ Missed: lunch — tap to call Mom now</a:t>
            </a:r>
          </a:p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6B6B76"/>
                </a:solidFill>
                <a:latin typeface="Avenir Next"/>
              </a:rPr>
              <a:t>Every confirmed — and missed — task reaches the family instantly, plus an AI summary of her whole day each evening.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CAC"/>
                </a:solidFill>
                <a:latin typeface="Avenir Next"/>
              </a:rPr>
              <a:t>HOW IT WORKS</a:t>
            </a:r>
          </a:p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2B2B33"/>
                </a:solidFill>
                <a:latin typeface="Avenir Next"/>
              </a:rPr>
              <a:t>Closing the loop, task by task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1005840" cy="63500"/>
          </a:xfrm>
          <a:prstGeom prst="rect">
            <a:avLst/>
          </a:prstGeom>
          <a:solidFill>
            <a:srgbClr val="4F7C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 i="0">
                <a:solidFill>
                  <a:srgbClr val="2B2B33"/>
                </a:solidFill>
                <a:latin typeface="Avenir Next"/>
              </a:rPr>
              <a:t>1. Family sets the routine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6B6B76"/>
                </a:solidFill>
                <a:latin typeface="Avenir Next"/>
              </a:rPr>
              <a:t>The caregiver builds Mom's day in 5 minutes: pills at 9, Biscuit at 10:15, lunch at noon, call Sarah at 3:30.</a:t>
            </a:r>
          </a:p>
          <a:p>
            <a:pPr algn="l">
              <a:spcAft>
                <a:spcPts val="200"/>
              </a:spcAft>
            </a:pPr>
            <a:r>
              <a:rPr sz="2100" b="1" i="0">
                <a:solidFill>
                  <a:srgbClr val="2B2B33"/>
                </a:solidFill>
                <a:latin typeface="Avenir Next"/>
              </a:rPr>
              <a:t>2. The AI guides Mom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6B6B76"/>
                </a:solidFill>
                <a:latin typeface="Avenir Next"/>
              </a:rPr>
              <a:t>Spoken reminders on a tablet or smart speaker, one task at a time, in plain warm language.</a:t>
            </a:r>
          </a:p>
          <a:p>
            <a:pPr algn="l">
              <a:spcAft>
                <a:spcPts val="200"/>
              </a:spcAft>
            </a:pPr>
            <a:r>
              <a:rPr sz="2100" b="1" i="0">
                <a:solidFill>
                  <a:srgbClr val="2B2B33"/>
                </a:solidFill>
                <a:latin typeface="Avenir Next"/>
              </a:rPr>
              <a:t>3. Mom confirms — or doesn't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6B6B76"/>
                </a:solidFill>
                <a:latin typeface="Avenir Next"/>
              </a:rPr>
              <a:t>Voice or one big button. No confirmation after gentle re-prompts triggers an alert.</a:t>
            </a:r>
          </a:p>
          <a:p>
            <a:pPr algn="l">
              <a:spcAft>
                <a:spcPts val="200"/>
              </a:spcAft>
            </a:pPr>
            <a:r>
              <a:rPr sz="2100" b="1" i="0">
                <a:solidFill>
                  <a:srgbClr val="2B2B33"/>
                </a:solidFill>
                <a:latin typeface="Avenir Next"/>
              </a:rPr>
              <a:t>4. Family knows instantly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6B6B76"/>
                </a:solidFill>
                <a:latin typeface="Avenir Next"/>
              </a:rPr>
              <a:t>Green check or red alert on every family member's phone, plus a nightly AI daily summary with trends.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CAC"/>
                </a:solidFill>
                <a:latin typeface="Avenir Next"/>
              </a:rPr>
              <a:t>WHY NOW</a:t>
            </a:r>
          </a:p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2B2B33"/>
                </a:solidFill>
                <a:latin typeface="Avenir Next"/>
              </a:rPr>
              <a:t>Voice AI finally works for this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1005840" cy="63500"/>
          </a:xfrm>
          <a:prstGeom prst="rect">
            <a:avLst/>
          </a:prstGeom>
          <a:solidFill>
            <a:srgbClr val="4F7C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 i="0">
                <a:solidFill>
                  <a:srgbClr val="2B2B33"/>
                </a:solidFill>
                <a:latin typeface="Avenir Next"/>
              </a:rPr>
              <a:t>Conversational AI crossed the usability threshold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6B6B76"/>
                </a:solidFill>
                <a:latin typeface="Avenir Next"/>
              </a:rPr>
              <a:t>Someone with cognitive decline can now talk to software naturally — no menus, no typing, no learning curve.</a:t>
            </a:r>
          </a:p>
          <a:p>
            <a:pPr algn="l">
              <a:spcAft>
                <a:spcPts val="200"/>
              </a:spcAft>
            </a:pPr>
            <a:r>
              <a:rPr sz="2100" b="1" i="0">
                <a:solidFill>
                  <a:srgbClr val="2B2B33"/>
                </a:solidFill>
                <a:latin typeface="Avenir Next"/>
              </a:rPr>
              <a:t>The demographic wave is here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6B6B76"/>
                </a:solidFill>
                <a:latin typeface="Avenir Next"/>
              </a:rPr>
              <a:t>Dementia cases are projected to roughly double by 2050 while professional care costs keep climbing.</a:t>
            </a:r>
          </a:p>
          <a:p>
            <a:pPr algn="l">
              <a:spcAft>
                <a:spcPts val="200"/>
              </a:spcAft>
            </a:pPr>
            <a:r>
              <a:rPr sz="2100" b="1" i="0">
                <a:solidFill>
                  <a:srgbClr val="2B2B33"/>
                </a:solidFill>
                <a:latin typeface="Avenir Next"/>
              </a:rPr>
              <a:t>Families are already paying for peace of mind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6B6B76"/>
                </a:solidFill>
                <a:latin typeface="Avenir Next"/>
              </a:rPr>
              <a:t>Medical alert systems charge $25–45/month for a panic button. We deliver proactive daily reassurance.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CAC"/>
                </a:solidFill>
                <a:latin typeface="Avenir Next"/>
              </a:rPr>
              <a:t>MARKET</a:t>
            </a:r>
          </a:p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2B2B33"/>
                </a:solidFill>
                <a:latin typeface="Avenir Next"/>
              </a:rPr>
              <a:t>A big, underserved, emotional market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1005840" cy="63500"/>
          </a:xfrm>
          <a:prstGeom prst="rect">
            <a:avLst/>
          </a:prstGeom>
          <a:solidFill>
            <a:srgbClr val="4F7C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347472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4000" b="1" i="0">
                <a:solidFill>
                  <a:srgbClr val="4F7CAC"/>
                </a:solidFill>
                <a:latin typeface="Avenir Next"/>
              </a:rPr>
              <a:t>11M+</a:t>
            </a:r>
          </a:p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6B6B76"/>
                </a:solidFill>
                <a:latin typeface="Avenir Next"/>
              </a:rPr>
              <a:t>U.S. dementia family caregivers (our buyers)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2194560"/>
            <a:ext cx="347472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4000" b="1" i="0">
                <a:solidFill>
                  <a:srgbClr val="3D8F5F"/>
                </a:solidFill>
                <a:latin typeface="Avenir Next"/>
              </a:rPr>
              <a:t>$20/mo</a:t>
            </a:r>
          </a:p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6B6B76"/>
                </a:solidFill>
                <a:latin typeface="Avenir Next"/>
              </a:rPr>
              <a:t>family subscription — under half a Life Alert bill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2194560"/>
            <a:ext cx="347472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4000" b="1" i="0">
                <a:solidFill>
                  <a:srgbClr val="3A5D84"/>
                </a:solidFill>
                <a:latin typeface="Avenir Next"/>
              </a:rPr>
              <a:t>$2.6B</a:t>
            </a:r>
          </a:p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6B6B76"/>
                </a:solidFill>
                <a:latin typeface="Avenir Next"/>
              </a:rPr>
              <a:t>annual U.S. opportunity at $20/mo across 11M families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720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2B2B33"/>
                </a:solidFill>
                <a:latin typeface="Avenir Next"/>
              </a:rPr>
              <a:t>Beachhead: adult children of recently diagnosed Alzheimer's patients — motivated, tech-savvy, actively searching for help.</a:t>
            </a:r>
          </a:p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6B6B76"/>
                </a:solidFill>
                <a:latin typeface="Avenir Next"/>
              </a:rPr>
              <a:t>Expansion: home-care agencies and assisted living facilities as B2B channels.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CAC"/>
                </a:solidFill>
                <a:latin typeface="Avenir Next"/>
              </a:rPr>
              <a:t>BUSINESS MODEL</a:t>
            </a:r>
          </a:p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2B2B33"/>
                </a:solidFill>
                <a:latin typeface="Avenir Next"/>
              </a:rPr>
              <a:t>The family pays, not the patient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1005840" cy="63500"/>
          </a:xfrm>
          <a:prstGeom prst="rect">
            <a:avLst/>
          </a:prstGeom>
          <a:solidFill>
            <a:srgbClr val="4F7C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 i="0">
                <a:solidFill>
                  <a:srgbClr val="2B2B33"/>
                </a:solidFill>
                <a:latin typeface="Avenir Next"/>
              </a:rPr>
              <a:t>Family subscription — ~$20/month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6B6B76"/>
                </a:solidFill>
                <a:latin typeface="Avenir Next"/>
              </a:rPr>
              <a:t>One patient, unlimited family members on the account. The worried adult child is the buyer; price-anchored against $25–45/month medical alert systems.</a:t>
            </a:r>
          </a:p>
          <a:p>
            <a:pPr algn="l">
              <a:spcAft>
                <a:spcPts val="200"/>
              </a:spcAft>
            </a:pPr>
            <a:r>
              <a:rPr sz="2100" b="1" i="0">
                <a:solidFill>
                  <a:srgbClr val="2B2B33"/>
                </a:solidFill>
                <a:latin typeface="Avenir Next"/>
              </a:rPr>
              <a:t>Retention strengthens over time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6B6B76"/>
                </a:solidFill>
                <a:latin typeface="Avenir Next"/>
              </a:rPr>
              <a:t>As the disease progresses, value shifts from patient reminders to the caregiver dashboard — families need us more each year, not less.</a:t>
            </a:r>
          </a:p>
          <a:p>
            <a:pPr algn="l">
              <a:spcAft>
                <a:spcPts val="200"/>
              </a:spcAft>
            </a:pPr>
            <a:r>
              <a:rPr sz="2100" b="1" i="0">
                <a:solidFill>
                  <a:srgbClr val="2B2B33"/>
                </a:solidFill>
                <a:latin typeface="Avenir Next"/>
              </a:rPr>
              <a:t>B2B later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6B6B76"/>
                </a:solidFill>
                <a:latin typeface="Avenir Next"/>
              </a:rPr>
              <a:t>Home-care agencies and assisted living facilities pay per-resident for family-communication tooling.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CAC"/>
                </a:solidFill>
                <a:latin typeface="Avenir Next"/>
              </a:rPr>
              <a:t>COMPETITION</a:t>
            </a:r>
          </a:p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2B2B33"/>
                </a:solidFill>
                <a:latin typeface="Avenir Next"/>
              </a:rPr>
              <a:t>Everyone else does half the job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1005840" cy="63500"/>
          </a:xfrm>
          <a:prstGeom prst="rect">
            <a:avLst/>
          </a:prstGeom>
          <a:solidFill>
            <a:srgbClr val="4F7C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965960"/>
            <a:ext cx="3749039" cy="689808"/>
          </a:xfrm>
          <a:prstGeom prst="rect">
            <a:avLst/>
          </a:prstGeom>
          <a:solidFill>
            <a:srgbClr val="3A5D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venir Next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4663440" y="1965960"/>
            <a:ext cx="3474720" cy="689808"/>
          </a:xfrm>
          <a:prstGeom prst="rect">
            <a:avLst/>
          </a:prstGeom>
          <a:solidFill>
            <a:srgbClr val="3A5D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venir Next"/>
              </a:rPr>
              <a:t>Patient-friendly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0" y="1965960"/>
            <a:ext cx="3200400" cy="689808"/>
          </a:xfrm>
          <a:prstGeom prst="rect">
            <a:avLst/>
          </a:prstGeom>
          <a:solidFill>
            <a:srgbClr val="3A5D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venir Next"/>
              </a:rPr>
              <a:t>Keeps family in the loop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715768"/>
            <a:ext cx="3749039" cy="68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B2B33"/>
                </a:solidFill>
                <a:latin typeface="Avenir Next"/>
              </a:rPr>
              <a:t>Medisafe (med reminders)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2715768"/>
            <a:ext cx="3474720" cy="68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B2B33"/>
                </a:solidFill>
                <a:latin typeface="Avenir Next"/>
              </a:rPr>
              <a:t>Somewhat — still a normal app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2715768"/>
            <a:ext cx="3200400" cy="68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B2B33"/>
                </a:solidFill>
                <a:latin typeface="Avenir Next"/>
              </a:rPr>
              <a:t>Meds only, basic alerts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465576"/>
            <a:ext cx="3749039" cy="68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B2B33"/>
                </a:solidFill>
                <a:latin typeface="Avenir Next"/>
              </a:rPr>
              <a:t>CareZone / Carely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63440" y="3465576"/>
            <a:ext cx="3474720" cy="68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B2B33"/>
                </a:solidFill>
                <a:latin typeface="Avenir Next"/>
              </a:rPr>
              <a:t>Caregiver tools; patient barely uses 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3465576"/>
            <a:ext cx="3200400" cy="68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B2B33"/>
                </a:solidFill>
                <a:latin typeface="Avenir Next"/>
              </a:rPr>
              <a:t>Yes, but manual updates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215384"/>
            <a:ext cx="3749039" cy="68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B2B33"/>
                </a:solidFill>
                <a:latin typeface="Avenir Next"/>
              </a:rPr>
              <a:t>ElliQ (companion robot)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40" y="4215384"/>
            <a:ext cx="3474720" cy="68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B2B33"/>
                </a:solidFill>
                <a:latin typeface="Avenir Next"/>
              </a:rPr>
              <a:t>Voice-first, but $600+ hardware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4215384"/>
            <a:ext cx="3200400" cy="68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B2B33"/>
                </a:solidFill>
                <a:latin typeface="Avenir Next"/>
              </a:rPr>
              <a:t>Weak family features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965192"/>
            <a:ext cx="3749039" cy="689808"/>
          </a:xfrm>
          <a:prstGeom prst="rect">
            <a:avLst/>
          </a:prstGeom>
          <a:solidFill>
            <a:srgbClr val="3D8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venir Next"/>
              </a:rPr>
              <a:t>DigitalTwin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63440" y="4965192"/>
            <a:ext cx="3474720" cy="689808"/>
          </a:xfrm>
          <a:prstGeom prst="rect">
            <a:avLst/>
          </a:prstGeom>
          <a:solidFill>
            <a:srgbClr val="3D8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venir Next"/>
              </a:rPr>
              <a:t>Voice-first, zero learning curve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4965192"/>
            <a:ext cx="3200400" cy="689808"/>
          </a:xfrm>
          <a:prstGeom prst="rect">
            <a:avLst/>
          </a:prstGeom>
          <a:solidFill>
            <a:srgbClr val="3D8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venir Next"/>
              </a:rPr>
              <a:t>Real-time loop on the whole routine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82472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1">
                <a:solidFill>
                  <a:srgbClr val="3A5D84"/>
                </a:solidFill>
                <a:latin typeface="Avenir Next"/>
              </a:rPr>
              <a:t>Reminder apps talk to the patient. Care apps talk to the family. Nobody closes the loop between them. We do.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CAC"/>
                </a:solidFill>
                <a:latin typeface="Avenir Next"/>
              </a:rPr>
              <a:t>ROADMAP</a:t>
            </a:r>
          </a:p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2B2B33"/>
                </a:solidFill>
                <a:latin typeface="Avenir Next"/>
              </a:rPr>
              <a:t>Start simple, grow with the family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1005840" cy="63500"/>
          </a:xfrm>
          <a:prstGeom prst="rect">
            <a:avLst/>
          </a:prstGeom>
          <a:solidFill>
            <a:srgbClr val="4F7C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2B2B33"/>
                </a:solidFill>
                <a:latin typeface="Avenir Next"/>
              </a:rPr>
              <a:t>Now — working prototype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6B6B76"/>
                </a:solidFill>
                <a:latin typeface="Avenir Next"/>
              </a:rPr>
              <a:t>Patient screen + live family feed with confirmed/missed task alerts (demoed today).</a:t>
            </a:r>
          </a:p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2B2B33"/>
                </a:solidFill>
                <a:latin typeface="Avenir Next"/>
              </a:rPr>
              <a:t>6 months — pilot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6B6B76"/>
                </a:solidFill>
                <a:latin typeface="Avenir Next"/>
              </a:rPr>
              <a:t>Voice AI on tablets with 20 pilot families; smart pill dispenser integration (Hero API).</a:t>
            </a:r>
          </a:p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2B2B33"/>
                </a:solidFill>
                <a:latin typeface="Avenir Next"/>
              </a:rPr>
              <a:t>12 months — launch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6B6B76"/>
                </a:solidFill>
                <a:latin typeface="Avenir Next"/>
              </a:rPr>
              <a:t>iOS/Android family app, evening AI daily summaries, subscription billing.</a:t>
            </a:r>
          </a:p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2B2B33"/>
                </a:solidFill>
                <a:latin typeface="Avenir Next"/>
              </a:rPr>
              <a:t>Beyond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6B6B76"/>
                </a:solidFill>
                <a:latin typeface="Avenir Next"/>
              </a:rPr>
              <a:t>Trend detection (“Mom is missing more tasks this month”), B2B for care agencies, more conditions beyond dementia.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CAC"/>
                </a:solidFill>
                <a:latin typeface="Avenir Next"/>
              </a:rPr>
              <a:t>TEAM</a:t>
            </a:r>
          </a:p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2B2B33"/>
                </a:solidFill>
                <a:latin typeface="Avenir Next"/>
              </a:rPr>
              <a:t>Built by Team DigitalTwin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1005840" cy="63500"/>
          </a:xfrm>
          <a:prstGeom prst="rect">
            <a:avLst/>
          </a:prstGeom>
          <a:solidFill>
            <a:srgbClr val="4F7C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2103120"/>
            <a:ext cx="3429000" cy="1691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2B2B33"/>
                </a:solidFill>
                <a:latin typeface="Avenir Next"/>
              </a:rPr>
              <a:t>Kaleb Rodriguez</a:t>
            </a:r>
          </a:p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4F7CAC"/>
                </a:solidFill>
                <a:latin typeface="Avenir Next"/>
              </a:rPr>
              <a:t>TECHNICAL LEAD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2103120"/>
            <a:ext cx="3429000" cy="1691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2B2B33"/>
                </a:solidFill>
                <a:latin typeface="Avenir Next"/>
              </a:rPr>
              <a:t>Saanvi Rout</a:t>
            </a:r>
          </a:p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3D8F5F"/>
                </a:solidFill>
                <a:latin typeface="Avenir Next"/>
              </a:rPr>
              <a:t>MARKETING LEAD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2103120"/>
            <a:ext cx="3429000" cy="1691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2B2B33"/>
                </a:solidFill>
                <a:latin typeface="Avenir Next"/>
              </a:rPr>
              <a:t>Ishaan Varma Kammella</a:t>
            </a:r>
          </a:p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3A5D84"/>
                </a:solidFill>
                <a:latin typeface="Avenir Next"/>
              </a:rPr>
              <a:t>FINANCE LEAD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114800"/>
            <a:ext cx="3429000" cy="1691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2B2B33"/>
                </a:solidFill>
                <a:latin typeface="Avenir Next"/>
              </a:rPr>
              <a:t>Hemaprabaa Rajakumar</a:t>
            </a:r>
          </a:p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C94F3D"/>
                </a:solidFill>
                <a:latin typeface="Avenir Next"/>
              </a:rPr>
              <a:t>FLEXIBLE TEAM LEAD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4114800"/>
            <a:ext cx="3429000" cy="1691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2B2B33"/>
                </a:solidFill>
                <a:latin typeface="Avenir Next"/>
              </a:rPr>
              <a:t>Hur Rauf Sirin</a:t>
            </a:r>
          </a:p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6B6B76"/>
                </a:solidFill>
                <a:latin typeface="Avenir Next"/>
              </a:rPr>
              <a:t>FLEXIBLE TEAM LEAD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5D8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103120"/>
            <a:ext cx="94183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3400" b="0" i="0">
                <a:solidFill>
                  <a:srgbClr val="BFD4E8"/>
                </a:solidFill>
                <a:latin typeface="Avenir Next"/>
              </a:rPr>
              <a:t>We can't stop the disease.</a:t>
            </a:r>
          </a:p>
          <a:p>
            <a:pPr algn="ctr"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Avenir Next"/>
              </a:rPr>
              <a:t>But we can give families back their calm —</a:t>
            </a:r>
          </a:p>
          <a:p>
            <a:pPr algn="ctr">
              <a:spcAft>
                <a:spcPts val="2600"/>
              </a:spcAft>
            </a:pPr>
            <a:r>
              <a:rPr sz="3400" b="1" i="0">
                <a:solidFill>
                  <a:srgbClr val="FFFFFF"/>
                </a:solidFill>
                <a:latin typeface="Avenir Next"/>
              </a:rPr>
              <a:t>one confirmed “Mom's okay” at a time.</a:t>
            </a:r>
          </a:p>
          <a:p>
            <a:pPr algn="ctr">
              <a:spcAft>
                <a:spcPts val="0"/>
              </a:spcAft>
            </a:pPr>
            <a:r>
              <a:rPr sz="1800" b="0" i="0">
                <a:solidFill>
                  <a:srgbClr val="9FB8D2"/>
                </a:solidFill>
                <a:latin typeface="Avenir Next"/>
              </a:rPr>
              <a:t>DigitalTwin  •  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